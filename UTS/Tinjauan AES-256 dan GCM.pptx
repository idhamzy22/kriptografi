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DM Sans" pitchFamily="2" charset="0"/>
      <p:regular r:id="rId20"/>
      <p:bold r:id="rId21"/>
      <p:italic r:id="rId22"/>
      <p:boldItalic r:id="rId23"/>
    </p:embeddedFont>
    <p:embeddedFont>
      <p:font typeface="Merriweather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167118-9CC0-498F-A136-5D0E38C0B385}">
  <a:tblStyle styleId="{B3167118-9CC0-498F-A136-5D0E38C0B38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4" name="Google Shape;2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619398"/>
            <a:ext cx="11601450" cy="1919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Tinjauan Algoritma Advanced Encryption Standard (AES-256) dan Mode Operasi Galois/Counter Mode (GCM)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825031"/>
            <a:ext cx="11049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4A90E2"/>
                </a:solidFill>
                <a:latin typeface="DM Sans"/>
                <a:ea typeface="DM Sans"/>
                <a:cs typeface="DM Sans"/>
                <a:sym typeface="DM Sans"/>
              </a:rPr>
              <a:t>Idham</a:t>
            </a:r>
            <a:r>
              <a:rPr lang="en-US" sz="2100" b="0" i="0" u="none" strike="noStrike" cap="none" dirty="0">
                <a:solidFill>
                  <a:srgbClr val="4A90E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b="0" i="0" u="none" strike="noStrike" cap="none" dirty="0" err="1">
                <a:solidFill>
                  <a:srgbClr val="4A90E2"/>
                </a:solidFill>
                <a:latin typeface="DM Sans"/>
                <a:ea typeface="DM Sans"/>
                <a:cs typeface="DM Sans"/>
                <a:sym typeface="DM Sans"/>
              </a:rPr>
              <a:t>Kholid</a:t>
            </a:r>
            <a:r>
              <a:rPr lang="en-US" sz="2100" b="0" i="0" u="none" strike="noStrike" cap="none">
                <a:solidFill>
                  <a:srgbClr val="4A90E2"/>
                </a:solidFill>
                <a:latin typeface="DM Sans"/>
                <a:ea typeface="DM Sans"/>
                <a:cs typeface="DM Sans"/>
                <a:sym typeface="DM Sans"/>
              </a:rPr>
              <a:t> Nur Azizi - 20230801192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346971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Program Studi Teknik Informatika, Universitas Esa Unggul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79271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idhamkholid2294@student.esaunggul.ac.id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762125" y="2043112"/>
            <a:ext cx="909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B2545"/>
                </a:solidFill>
                <a:latin typeface="DM Sans"/>
                <a:ea typeface="DM Sans"/>
                <a:cs typeface="DM Sans"/>
                <a:sym typeface="DM Sans"/>
              </a:rPr>
              <a:t>Konteks</a:t>
            </a:r>
            <a:r>
              <a:rPr lang="en-US" sz="1500" b="1" i="0" u="none" strike="noStrike" cap="none" dirty="0">
                <a:solidFill>
                  <a:srgbClr val="0B254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Kriptografi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adalah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komponen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esensial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untuk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keamanan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sistem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informasi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modern.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1762125" y="2586037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B2545"/>
                </a:solidFill>
                <a:latin typeface="DM Sans"/>
                <a:ea typeface="DM Sans"/>
                <a:cs typeface="DM Sans"/>
                <a:sym typeface="DM Sans"/>
              </a:rPr>
              <a:t>Algoritma</a:t>
            </a:r>
            <a:r>
              <a:rPr lang="en-US" sz="1500" b="1" i="0" u="none" strike="noStrike" cap="none" dirty="0">
                <a:solidFill>
                  <a:srgbClr val="0B2545"/>
                </a:solidFill>
                <a:latin typeface="DM Sans"/>
                <a:ea typeface="DM Sans"/>
                <a:cs typeface="DM Sans"/>
                <a:sym typeface="DM Sans"/>
              </a:rPr>
              <a:t> Inti: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AES-256 (NIST FIPS 197)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adalah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standar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global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untuk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data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tingkat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kerahasiaan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tertinggi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melampaui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AES-128.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1762125" y="3433762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B2545"/>
                </a:solidFill>
                <a:latin typeface="DM Sans"/>
                <a:ea typeface="DM Sans"/>
                <a:cs typeface="DM Sans"/>
                <a:sym typeface="DM Sans"/>
              </a:rPr>
              <a:t>Masalah</a:t>
            </a:r>
            <a:r>
              <a:rPr lang="en-US" sz="1500" b="1" i="0" u="none" strike="noStrike" cap="none" dirty="0">
                <a:solidFill>
                  <a:srgbClr val="0B254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AES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murni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adalah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*block cipher*,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tidak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bisa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langsung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mengenkripsi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data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berukuran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variabel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misal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: file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atau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pesan</a:t>
            </a:r>
            <a:r>
              <a:rPr lang="en-US" sz="1500" b="0" i="0" u="none" strike="noStrike" cap="none" dirty="0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1762125" y="4281487"/>
            <a:ext cx="909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B2545"/>
                </a:solidFill>
                <a:latin typeface="DM Sans"/>
                <a:ea typeface="DM Sans"/>
                <a:cs typeface="DM Sans"/>
                <a:sym typeface="DM Sans"/>
              </a:rPr>
              <a:t>Solusi: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"Mode Operasi" diperlukan. Mode GCM (NIST SP 800-38D) telah menjadi standar industri.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762125" y="4824412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B2545"/>
                </a:solidFill>
                <a:latin typeface="DM Sans"/>
                <a:ea typeface="DM Sans"/>
                <a:cs typeface="DM Sans"/>
                <a:sym typeface="DM Sans"/>
              </a:rPr>
              <a:t>Keunggulan GCM: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Menyediakan **AEAD (Authenticated Encryption with Associated Data)**, yang secara simultan menjamin **Kerahasiaan** dan **Integritas** data.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090737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481387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4329112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4872037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Pendahuluan</a:t>
            </a:r>
            <a:r>
              <a:rPr lang="en-US" sz="3000" b="1" i="0" u="none" strike="noStrike" cap="none" dirty="0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: </a:t>
            </a:r>
            <a:r>
              <a:rPr lang="en-US" sz="3000" b="1" i="0" u="none" strike="noStrike" cap="none" dirty="0" err="1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Latar</a:t>
            </a:r>
            <a:r>
              <a:rPr lang="en-US" sz="3000" b="1" i="0" u="none" strike="noStrike" cap="none" dirty="0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Belakang</a:t>
            </a:r>
            <a:r>
              <a:rPr lang="en-US" sz="3000" b="1" i="0" u="none" strike="noStrike" cap="none" dirty="0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 dan </a:t>
            </a:r>
            <a:r>
              <a:rPr lang="en-US" sz="3000" b="1" i="0" u="none" strike="noStrike" cap="none" dirty="0" err="1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Tujuan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3492549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24000"/>
            <a:ext cx="3492549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524000"/>
            <a:ext cx="3492549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66775" y="2457450"/>
            <a:ext cx="166020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Definisi Dasar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66775" y="3000375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AES-256 adalah *block cipher* yang beroperasi pada blok 128-bit. Menggunakan kunci 256-bit dan menjalankan **14 putaran (rounds)** transformasi. (AES, 2023)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45074" y="2457450"/>
            <a:ext cx="256032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4 Operasi per Putaran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45074" y="3000375"/>
            <a:ext cx="29019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1. SubBytes:</a:t>
            </a: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(Kebingungan) Substitusi non-linear menggunakan S-Box.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45074" y="3762375"/>
            <a:ext cx="29019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2. ShiftRows:</a:t>
            </a: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(Difusi) Menggeser baris-baris *state* secara siklis.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45074" y="4524375"/>
            <a:ext cx="29019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3. MixColumns:</a:t>
            </a: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(Difusi) Mencampur data di dalam kolom (GF(2⁸)).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45074" y="5286375"/>
            <a:ext cx="29019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4. AddRoundKey:</a:t>
            </a: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(Kunci) Operasi XOR *state* dengan *Round Key*.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23374" y="2457450"/>
            <a:ext cx="284035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KeySchedule (Ekspansi)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23374" y="3000375"/>
            <a:ext cx="2901999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Satu kunci master 256-bit "diekspansi" menjadi 15 *Round Keys* 128-bit (1 pra-putaran + 14 putaran). Proses ini memastikan setiap putaran menggunakan materi kunci yang unik. (AES, 2023)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8383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18383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18383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Landasan Teori (1): Arsitektur Inti AES-256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9687" y="1952625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6334125" y="1646336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AEAD: Authenticated Encryption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334125" y="2179736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GCM adalah mode AEAD (Authenticated Encryption with Associated Data), yang dirancang untuk melakukan dua tugas sekaligus (Dworkin, 2007):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7312" y="2000250"/>
            <a:ext cx="3714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6667500" y="3284636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Kerahasiaan (Encryption):</a:t>
            </a:r>
            <a:r>
              <a:rPr lang="en-US" sz="16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Menjamin data tidak bisa dibaca oleh pihak tidak berwenang.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667500" y="4097833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Autentikasi (Integrity):</a:t>
            </a:r>
            <a:r>
              <a:rPr lang="en-US" sz="16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Menjamin data tidak diubah (dimodifikasi) tanpa terdeteksi.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667500" y="4911030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Associated Data (AD):</a:t>
            </a:r>
            <a:r>
              <a:rPr lang="en-US" sz="16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Juga mampu mengautentikasi data tambahan (misal: *header* paket) yang tidak dienkripsi.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Landasan Teori (2): Konsep Mode GCM (AEAD)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33226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14545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95865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31764"/>
            <a:ext cx="5286375" cy="42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731764"/>
            <a:ext cx="5286375" cy="425172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962025" y="2122289"/>
            <a:ext cx="473059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Mekanisme 1: Kerahasiaan (via Mode CTR)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62025" y="2884289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GCM pada dasarnya mengubah AES menjadi *stream cipher* menggunakan Mode Counter (CTR) untuk kerahasiaan (Dworkin, 2007).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24650" y="2122289"/>
            <a:ext cx="473059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Mekanisme 2: Autentikasi (via GHASH)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724650" y="2589014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Secara paralel, GCM menghitung *Authentication Tag* menggunakan fungsi hash polinomial (GHASH) (Dworkin, 2007).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247775" y="3878609"/>
            <a:ext cx="42195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AES-256 mengenkripsi `Nonce + Counter` untuk membuat *Keystream*.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247775" y="4522440"/>
            <a:ext cx="4219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`Ciphertext = Plaintext ⊕ Keystream`.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247775" y="4891980"/>
            <a:ext cx="42195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Keunggulan:</a:t>
            </a:r>
            <a:r>
              <a:rPr lang="en-US" sz="13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Sangat cepat karena enkripsi/dekripsi dapat diparalelisasi.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7010400" y="3583334"/>
            <a:ext cx="4219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Sebuah kunci hash (H) dibuat: `H = AES(Kunci, 0)`.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010400" y="3952875"/>
            <a:ext cx="42195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GHASH memproses *Associated Data (AD)* dan *Ciphertext*.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010400" y="4596705"/>
            <a:ext cx="42195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Hasilnya dienkripsi sekali lagi untuk menghasilkan *Tag* final.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Landasan Teori (3): Mekanisme Ganda GCM</a:t>
            </a:r>
            <a:endParaRPr/>
          </a:p>
        </p:txBody>
      </p:sp>
      <p:pic>
        <p:nvPicPr>
          <p:cNvPr id="159" name="Google Shape;15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91670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456054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493008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362143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39909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463480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43375"/>
            <a:ext cx="4972050" cy="2280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48450" y="895647"/>
            <a:ext cx="4972050" cy="267622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/>
          <p:nvPr/>
        </p:nvSpPr>
        <p:spPr>
          <a:xfrm>
            <a:off x="571500" y="3838575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657225" y="4343400"/>
            <a:ext cx="48006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Proses Enkripsi GCM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71525" y="4791075"/>
            <a:ext cx="4572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Input: </a:t>
            </a:r>
            <a:r>
              <a:rPr lang="en-US" sz="1200" b="0" i="0" u="none" strike="noStrike" cap="none">
                <a:solidFill>
                  <a:srgbClr val="D63384"/>
                </a:solidFill>
                <a:latin typeface="DM Sans"/>
                <a:ea typeface="DM Sans"/>
                <a:cs typeface="DM Sans"/>
                <a:sym typeface="DM Sans"/>
              </a:rPr>
              <a:t>Plaintext, AAD, Kunci, Nonce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71525" y="5187255"/>
            <a:ext cx="4572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1. Plaintext dienkripsi (Mode CTR) -&gt; </a:t>
            </a:r>
            <a:r>
              <a:rPr lang="en-US" sz="1200" b="0" i="0" u="none" strike="noStrike" cap="none">
                <a:solidFill>
                  <a:srgbClr val="D63384"/>
                </a:solidFill>
                <a:latin typeface="DM Sans"/>
                <a:ea typeface="DM Sans"/>
                <a:cs typeface="DM Sans"/>
                <a:sym typeface="DM Sans"/>
              </a:rPr>
              <a:t>Ciphertext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71525" y="5583435"/>
            <a:ext cx="4572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2. AAD + Ciphertext di-hash (GHASH) -&gt; </a:t>
            </a:r>
            <a:r>
              <a:rPr lang="en-US" sz="1200" b="0" i="0" u="none" strike="noStrike" cap="none">
                <a:solidFill>
                  <a:srgbClr val="D63384"/>
                </a:solidFill>
                <a:latin typeface="DM Sans"/>
                <a:ea typeface="DM Sans"/>
                <a:cs typeface="DM Sans"/>
                <a:sym typeface="DM Sans"/>
              </a:rPr>
              <a:t>Tag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71525" y="5979616"/>
            <a:ext cx="4572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Output: </a:t>
            </a:r>
            <a:r>
              <a:rPr lang="en-US" sz="1200" b="0" i="0" u="none" strike="noStrike" cap="none">
                <a:solidFill>
                  <a:srgbClr val="D63384"/>
                </a:solidFill>
                <a:latin typeface="DM Sans"/>
                <a:ea typeface="DM Sans"/>
                <a:cs typeface="DM Sans"/>
                <a:sym typeface="DM Sans"/>
              </a:rPr>
              <a:t>Ciphertext + Tag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734175" y="1095672"/>
            <a:ext cx="48006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Proses Dekripsi &amp; Verifikasi (Kritis)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848475" y="1543347"/>
            <a:ext cx="4572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Input: </a:t>
            </a:r>
            <a:r>
              <a:rPr lang="en-US" sz="1200" b="0" i="0" u="none" strike="noStrike" cap="none">
                <a:solidFill>
                  <a:srgbClr val="D63384"/>
                </a:solidFill>
                <a:latin typeface="DM Sans"/>
                <a:ea typeface="DM Sans"/>
                <a:cs typeface="DM Sans"/>
                <a:sym typeface="DM Sans"/>
              </a:rPr>
              <a:t>Ciphertext, AAD, Kunci, Nonce, Tag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848475" y="1939528"/>
            <a:ext cx="4572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1. Ciphertext didekripsi -&gt; </a:t>
            </a:r>
            <a:r>
              <a:rPr lang="en-US" sz="1200" b="0" i="0" u="none" strike="noStrike" cap="none">
                <a:solidFill>
                  <a:srgbClr val="D63384"/>
                </a:solidFill>
                <a:latin typeface="DM Sans"/>
                <a:ea typeface="DM Sans"/>
                <a:cs typeface="DM Sans"/>
                <a:sym typeface="DM Sans"/>
              </a:rPr>
              <a:t>Potensial Plaintext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848475" y="2335708"/>
            <a:ext cx="4572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2. AAD + Ciphertext di-hash -&gt; </a:t>
            </a:r>
            <a:r>
              <a:rPr lang="en-US" sz="1200" b="0" i="0" u="none" strike="noStrike" cap="none">
                <a:solidFill>
                  <a:srgbClr val="D63384"/>
                </a:solidFill>
                <a:latin typeface="DM Sans"/>
                <a:ea typeface="DM Sans"/>
                <a:cs typeface="DM Sans"/>
                <a:sym typeface="DM Sans"/>
              </a:rPr>
              <a:t>Tag_Internal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6848475" y="2731889"/>
            <a:ext cx="4572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3. Verifikasi: </a:t>
            </a:r>
            <a:r>
              <a:rPr lang="en-US" sz="1200" b="0" i="0" u="none" strike="noStrike" cap="none">
                <a:solidFill>
                  <a:srgbClr val="D63384"/>
                </a:solidFill>
                <a:latin typeface="DM Sans"/>
                <a:ea typeface="DM Sans"/>
                <a:cs typeface="DM Sans"/>
                <a:sym typeface="DM Sans"/>
              </a:rPr>
              <a:t>Tag_Internal == Tag</a:t>
            </a: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848475" y="3128069"/>
            <a:ext cx="4572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Jika GAGAL: Data HARUS DIBUANG.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Visualisasi: Proses Enkripsi vs Dekripsi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2962275" y="37623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38100" cap="flat" cmpd="sng">
            <a:solidFill>
              <a:srgbClr val="4A9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9039225" y="37623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38100" cap="flat" cmpd="sng">
            <a:solidFill>
              <a:srgbClr val="4A9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/>
          <p:nvPr/>
        </p:nvSpPr>
        <p:spPr>
          <a:xfrm>
            <a:off x="5619750" y="2560290"/>
            <a:ext cx="952500" cy="476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295275" y="2893665"/>
            <a:ext cx="1160145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Tinjauan Penelitian Terdahulu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571500" y="398904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Temuan Kunci dari Literatur (2024-2025)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0" name="Google Shape;200;p20"/>
          <p:cNvGraphicFramePr/>
          <p:nvPr/>
        </p:nvGraphicFramePr>
        <p:xfrm>
          <a:off x="571500" y="1581447"/>
          <a:ext cx="11039475" cy="4552350"/>
        </p:xfrm>
        <a:graphic>
          <a:graphicData uri="http://schemas.openxmlformats.org/drawingml/2006/table">
            <a:tbl>
              <a:tblPr firstRow="1" bandRow="1">
                <a:noFill/>
                <a:tableStyleId>{B3167118-9CC0-498F-A136-5D0E38C0B385}</a:tableStyleId>
              </a:tblPr>
              <a:tblGrid>
                <a:gridCol w="195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6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9F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Peneliti &amp; Tahun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9F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Fokus Studi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9F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Hasil &amp; Temuan Kunci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B254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Eromosele (2025)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Kinerja AES-256 pada metrik jaringan.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Dampak kinerja (overhead) pada throughput &amp; latency **sangat minimal** di jaringan modern.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B254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Susanti et al. (2024)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Kinerja AES-GCM vs. ChaCha20-Poly1305.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AES-GCM **sangat cepat** di CPU dengan **akselerasi AES-NI**. ChaCha20 lebih cepat di perangkat *low-end* (IoT) tanpa AES-NI.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B254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Böck et al. (n.d.)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Kerentanan GCM di TLS.</a:t>
                      </a:r>
                      <a:endParaRPr/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Mengidentifikasi serangan pemalsuan (*forgery*) **fatal** jika **Nonce digunakan kembali** (*Nonce Reuse*).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B254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Mantel et al. (n.d.)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Serangan *Cache Side-Channel*.</a:t>
                      </a:r>
                      <a:endParaRPr/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Implementasi *software* AES yang "naif" (via *lookup tables*) dapat **membocorkan kunci rahasia** melalui *cache timing*.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B254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Holmgren &amp; Lombardi (n.d.)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Evolusi GCM (AES-GCM-SIV).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Merancang **AES-GCM-SIV**, varian GCM yang **tahan terhadap penyalahgunaan nonce** (*nonce misuse-resistant*).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01" name="Google Shape;20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30996" y="3918644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30996" y="472053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Temuan Kunci Tinjauan Pustaka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571500" y="3148012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1000x+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571500" y="4291012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B2545"/>
                </a:solidFill>
                <a:latin typeface="DM Sans"/>
                <a:ea typeface="DM Sans"/>
                <a:cs typeface="DM Sans"/>
                <a:sym typeface="DM Sans"/>
              </a:rPr>
              <a:t>Lebih Cepat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334125" y="1654075"/>
            <a:ext cx="5550693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Peran Akselerasi Perangkat Keras (AES-NI)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334125" y="2625625"/>
            <a:ext cx="5286375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Sintesis dari (Eromosele, 2025) dan (Susanti et al., 2024) menunjukkan paradoks: AES-GCM sangat cepat, *bukan* karena algoritmanya sederhana, tetapi karena adanya **akselerasi perangkat keras (AES-NI)**.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334125" y="4510980"/>
            <a:ext cx="528637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Instruksi CPU modern menjalankan operasi AES (SubBytes, MixColumns) langsung di silikon, membuatnya ribuan kali lebih cepat daripada *software* murni.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Analisis (1): Paradoks Kinerja AES-GCM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1333500" y="1933575"/>
            <a:ext cx="9525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Sesuai standar (Dworkin, 2007) dan dieksploitasi (Böck et al.), menggunakan *Nonce* yang sama dua kali dengan kunci yang sama adalah kesalahan fatal.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1762125" y="2733675"/>
            <a:ext cx="9096375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B2545"/>
                </a:solidFill>
                <a:latin typeface="DM Sans"/>
                <a:ea typeface="DM Sans"/>
                <a:cs typeface="DM Sans"/>
                <a:sym typeface="DM Sans"/>
              </a:rPr>
              <a:t>Kegagalan Kerahasiaan: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Mode CTR adalah *stream cipher*. Jika *Keystream* (KS) sama, penyerang dapat menghitung: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63384"/>
                </a:solidFill>
                <a:latin typeface="DM Sans"/>
                <a:ea typeface="DM Sans"/>
                <a:cs typeface="DM Sans"/>
                <a:sym typeface="DM Sans"/>
              </a:rPr>
              <a:t>C1 ⊕ C2 = (P1 ⊕ KS) ⊕ (P2 ⊕ KS) = P1 ⊕ P2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Ini membocorkan XOR dari dua *plaintext*, seringkali cukup untuk memulihkan kedua pesan.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1762125" y="4210050"/>
            <a:ext cx="90963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B2545"/>
                </a:solidFill>
                <a:latin typeface="DM Sans"/>
                <a:ea typeface="DM Sans"/>
                <a:cs typeface="DM Sans"/>
                <a:sym typeface="DM Sans"/>
              </a:rPr>
              <a:t>Kegagalan Autentikasi (Fatal):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Lebih parah, penggunaan ulang *nonce* memungkinkan penyerang **memulihkan kunci autentikasi (H)**.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Setelah H diketahui, penyerang dapat **memalsukan (*forge*) pesan baru** dengan *tag* autentikasi yang valid. Integritas sistem hancur total.</a:t>
            </a:r>
            <a:endParaRPr/>
          </a:p>
        </p:txBody>
      </p:sp>
      <p:pic>
        <p:nvPicPr>
          <p:cNvPr id="223" name="Google Shape;22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781300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4257675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Analisis (2): Kerentanan Fatal #1 - Bencana "Nonce Reuse"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94544"/>
            <a:ext cx="5286375" cy="452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94544"/>
            <a:ext cx="5286375" cy="452601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962025" y="1985069"/>
            <a:ext cx="473059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Kerentanan Side-Channel (Mantel et al.)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962025" y="2747069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Implementasi AES "naif" (sering di *software* tanpa AES-NI) menggunakan *lookup tables* untuk S-Box.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6724650" y="1985069"/>
            <a:ext cx="473059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Evolusi &amp; Mitigasi (Holmgren &amp; Lombardi)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724650" y="2747069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Kerapuhan GCM terhadap *nonce reuse* sangat parah sehingga komunitas kriptografi merancang alternatif.</a:t>
            </a:r>
            <a:endParaRPr/>
          </a:p>
        </p:txBody>
      </p:sp>
      <p:pic>
        <p:nvPicPr>
          <p:cNvPr id="237" name="Google Shape;23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01364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1247775" y="3467100"/>
            <a:ext cx="42195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Serangan *Cache Side-Channel* mengukur perbedaan waktu akses CPU ke *cache* vs RAM.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1247775" y="4110930"/>
            <a:ext cx="42195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Pola waktu ini dapat membocorkan bit-bit kunci rahasia.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1247775" y="4754760"/>
            <a:ext cx="42195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Solusi:</a:t>
            </a:r>
            <a:r>
              <a:rPr lang="en-US" sz="13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Implementasi *Constant-Time* (berjalan dalam waktu yang sama persis, terlepas dari data/kunci).</a:t>
            </a:r>
            <a:endParaRPr/>
          </a:p>
        </p:txBody>
      </p:sp>
      <p:pic>
        <p:nvPicPr>
          <p:cNvPr id="241" name="Google Shape;24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01364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7010400" y="3467100"/>
            <a:ext cx="42195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AES-GCM-SIV:</a:t>
            </a:r>
            <a:r>
              <a:rPr lang="en-US" sz="13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Varian GCM yang *Nonce Misuse-Resistant* (tahan penyalahgunaan *nonce*).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7010400" y="4110930"/>
            <a:ext cx="42195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Jika *nonce* dipakai ulang, GCM-SIV *tidak* membocorkan *plaintext* atau mengizinkan pemalsuan pesan.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Analisis (3): Kerentanan #2 dan Evolusi</a:t>
            </a:r>
            <a:endParaRPr/>
          </a:p>
        </p:txBody>
      </p:sp>
      <p:pic>
        <p:nvPicPr>
          <p:cNvPr id="245" name="Google Shape;245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35052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414903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479286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24650" y="35052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24650" y="414903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295275" y="1223962"/>
            <a:ext cx="1160145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Kesimpulan &amp; Arah Penelitian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1809750" y="2281237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AES-256 (NIST, 2023) adalah algoritma yang aman. GCM (Dworkin, 2007) adalah mode AEAD berkinerja tinggi berkat akselerasi AES-NI (Susanti et al., 2024).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1809750" y="3271837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B2545"/>
                </a:solidFill>
                <a:latin typeface="DM Sans"/>
                <a:ea typeface="DM Sans"/>
                <a:cs typeface="DM Sans"/>
                <a:sym typeface="DM Sans"/>
              </a:rPr>
              <a:t>Tantangan utama telah bergeser dari desain algoritmik ke </a:t>
            </a:r>
            <a:r>
              <a:rPr lang="en-US" sz="1500" b="1" i="0" u="none" strike="noStrike" cap="none">
                <a:solidFill>
                  <a:srgbClr val="E74C3C"/>
                </a:solidFill>
                <a:latin typeface="DM Sans"/>
                <a:ea typeface="DM Sans"/>
                <a:cs typeface="DM Sans"/>
                <a:sym typeface="DM Sans"/>
              </a:rPr>
              <a:t>kerapuhan implementasi praktis</a:t>
            </a:r>
            <a:r>
              <a:rPr lang="en-US" sz="1500" b="1" i="0" u="none" strike="noStrike" cap="none">
                <a:solidFill>
                  <a:srgbClr val="0B254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857250" y="3957637"/>
            <a:ext cx="5400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Tantangan Utama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6191250" y="3957637"/>
            <a:ext cx="5400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Arah Penelitian Masa Depan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1095375" y="4376737"/>
            <a:ext cx="4905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Bencana "Nonce Reuse" (Böck et al.)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1095375" y="4700587"/>
            <a:ext cx="4905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Serangan Side-Channel (Mantel et al.)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6429375" y="4376737"/>
            <a:ext cx="4905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Adopsi mode *Nonce Misuse-Resistant* (AES-GCM-SIV).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6429375" y="4700587"/>
            <a:ext cx="4905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Verifikasi formal implementasi *Constant-Time*.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6429375" y="5024437"/>
            <a:ext cx="4905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Integrasi *Post-Quantum Cryptography (PQC)* untuk pertukaran kunci.</a:t>
            </a:r>
            <a:endParaRPr/>
          </a:p>
        </p:txBody>
      </p:sp>
      <p:pic>
        <p:nvPicPr>
          <p:cNvPr id="265" name="Google Shape;26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441483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375" y="44053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473868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375" y="47291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441483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473868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5062537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1950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195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1666875" y="351383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https://lh7-rt.googleusercontent.com/docsz/AD_4nXfTtxkKzrnPyE1G2BEvUWfHeQkF4DVH4YcwzCqK_FqsKu-L1ZMdMUGBqcy0GYEIfhtxn9q3t-edib_8ZUUnlRfazd_U-jCJUE8nnzQBoczCOZnxpTh8cQ1JNeDc-4wNdIkqz9KURQ?key=5LPkGCyKuhhjcYyVJ3sowA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1666875" y="395763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www.atlassystems.com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B2545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1324</Words>
  <Application>Microsoft Office PowerPoint</Application>
  <PresentationFormat>Widescreen</PresentationFormat>
  <Paragraphs>103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Merriweather</vt:lpstr>
      <vt:lpstr>Arial</vt:lpstr>
      <vt:lpstr>DM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idhamkholid2294@gmail.com</cp:lastModifiedBy>
  <cp:revision>1</cp:revision>
  <dcterms:modified xsi:type="dcterms:W3CDTF">2025-11-06T07:47:50Z</dcterms:modified>
</cp:coreProperties>
</file>